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9144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220"/>
                </a:solidFill>
                <a:latin typeface="Calibri"/>
              </a:rPr>
              <a:t>PRÉSENTATION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0B1220"/>
                </a:solidFill>
                <a:latin typeface="Calibri"/>
              </a:rPr>
              <a:t>s2gBot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B1220"/>
                </a:solidFill>
                <a:latin typeface="Calibri"/>
              </a:rPr>
              <a:t>Plateforme LIMS BTP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1220"/>
                </a:solidFill>
                <a:latin typeface="Calibri"/>
              </a:rPr>
              <a:t>Laboratoire géotechnique &amp; essais BTP — France &amp; Maroc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B1220"/>
                </a:solidFill>
                <a:latin typeface="Calibri"/>
              </a:rPr>
              <a:t>20 avril 2026  ·  BDC / anexys.fr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01168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SCHÉMA BDD · STRUCTURE ·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7744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6EDF7"/>
                </a:solidFill>
                <a:latin typeface="Calibri"/>
              </a:rPr>
              <a:t>Architecture, modèle de données
et feuille de route d'évolution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8404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7A3BF"/>
                </a:solidFill>
                <a:latin typeface="Calibri"/>
              </a:rPr>
              <a:t>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114800"/>
            <a:ext cx="59436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E6EDF7"/>
                </a:solidFill>
                <a:latin typeface="Calibri"/>
              </a:rPr>
              <a:t>Laravel 11 (API REST · Sanctum)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E6EDF7"/>
                </a:solidFill>
                <a:latin typeface="Calibri"/>
              </a:rPr>
              <a:t>React 18 (SPA Vite · CRM + Terrain)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E6EDF7"/>
                </a:solidFill>
                <a:latin typeface="Calibri"/>
              </a:rPr>
              <a:t>Expo (iOS + Android mobile)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E6EDF7"/>
                </a:solidFill>
                <a:latin typeface="Calibri"/>
              </a:rPr>
              <a:t>MySQL / PostgreSQL · Docker · CI/CD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01 · 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Synthèse exécutive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6459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4B8A6"/>
                </a:solidFill>
                <a:latin typeface="Calibr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7A3BF"/>
                </a:solidFill>
                <a:latin typeface="Calibri"/>
              </a:rPr>
              <a:t>TABLES MÉTIER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6459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783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0EA5E9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03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7A3BF"/>
                </a:solidFill>
                <a:latin typeface="Calibri"/>
              </a:rPr>
              <a:t>MODULES FONCTIONNELS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459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783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5603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7A3BF"/>
                </a:solidFill>
                <a:latin typeface="Calibri"/>
              </a:rPr>
              <a:t>PHASES MVP→V1→V2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6459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783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22C55E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603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7A3BF"/>
                </a:solidFill>
                <a:latin typeface="Calibri"/>
              </a:rPr>
              <a:t>RÔLES UTILISATEURS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11274552" cy="265176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OBJECTIF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77639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6EDF7"/>
                </a:solidFill>
                <a:latin typeface="Calibri"/>
              </a:rPr>
              <a:t>Plateforme unique couvrant le flux bout-en-bout :
demande → prélèvement → essai → résultats → rapport → facturation.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Calibri"/>
              </a:rPr>
              <a:t>ÉTAT ACTUEL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DF7"/>
                </a:solidFill>
                <a:latin typeface="Calibri"/>
              </a:rPr>
              <a:t>MVP en production. CRM, chantiers, devis, commandes, échantillons, résultats,
rapports PDF et facturation FR/MA (ICE, RC, Patente, TVA 20 %) déjà opérationnels.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02 ·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Structure du projet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5448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749039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onsolas"/>
              </a:rPr>
              <a:t>laravel-api/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3383280" cy="2103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Laravel 11 · API REST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Sanctum (Bearer tokens)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34 modèles Eloquent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~60 endpoints /api/*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749039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A5E9"/>
                </a:solidFill>
                <a:latin typeface="Calibri"/>
              </a:rPr>
              <a:t>Frontend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48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onsolas"/>
              </a:rPr>
              <a:t>react-frontend/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3383280" cy="2103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React 18 + Vite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React Router + React Query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2 espaces : CRM + Terrain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Cartes GPS fiche chantier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749039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737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Calibri"/>
              </a:rPr>
              <a:t>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48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onsolas"/>
              </a:rPr>
              <a:t>apps/lab-btp-mobile/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651760"/>
            <a:ext cx="3383280" cy="2103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Expo · iOS + Android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Mesures + photos terrain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Idempotence submissions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Même API Sanctum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11274552" cy="118872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DF7"/>
                </a:solidFill>
                <a:latin typeface="Calibri"/>
              </a:rPr>
              <a:t>Docker (MySQL + PHP-FPM + Nginx)  ·  GitHub Actions → SSH port 167
Versions automatiques (react-frontend/package.json + GIT_COMMIT_SHORT)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03 · FLUX APPLICATIF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Architecture technique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828800"/>
            <a:ext cx="2103120" cy="365760"/>
          </a:xfrm>
          <a:prstGeom prst="roundRect">
            <a:avLst>
              <a:gd name="adj" fmla="val 40000"/>
            </a:avLst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Calibri"/>
              </a:rPr>
              <a:t>UTILISATEURS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3172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1828800" cy="2468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7A3BF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Labo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97A3BF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Techniciens terrain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97A3BF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Clients finaux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97480" y="3429000"/>
            <a:ext cx="164592" cy="182880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62072" y="1828800"/>
            <a:ext cx="2103120" cy="36576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186537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Calibri"/>
              </a:rPr>
              <a:t>FRONTAUX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62072" y="233172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2514600"/>
            <a:ext cx="1828800" cy="2468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React 18 SPA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Expo Mobile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65192" y="3429000"/>
            <a:ext cx="164592" cy="182880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9784" y="1828800"/>
            <a:ext cx="2103120" cy="365760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186537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Calibri"/>
              </a:rPr>
              <a:t>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9784" y="233172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2664" y="2514600"/>
            <a:ext cx="1828800" cy="2468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Laravel 11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Sanctum Bearer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PDF Blade · Mail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32904" y="3429000"/>
            <a:ext cx="164592" cy="182880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97496" y="1828800"/>
            <a:ext cx="2103120" cy="36576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496" y="186537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Calibri"/>
              </a:rPr>
              <a:t>DONNÉES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97496" y="233172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6" y="2514600"/>
            <a:ext cx="1828800" cy="2468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MySQL / PostgreSQL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Storage fichiers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00616" y="3429000"/>
            <a:ext cx="164592" cy="182880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65208" y="1828800"/>
            <a:ext cx="2103120" cy="36576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65208" y="186537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Calibri"/>
              </a:rPr>
              <a:t>INFRA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5208" y="233172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8088" y="2514600"/>
            <a:ext cx="1828800" cy="2468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Nginx + PHP-FPM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GitHub Actions SSH:167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394960"/>
            <a:ext cx="11274552" cy="82296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5321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Calibri"/>
              </a:rPr>
              <a:t>Communication : HTTPS REST JSON entre frontaux et API. Bearer token Sanctum. Stockage fichiers polymorphe (attachments).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04 · BASE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Modèle de données — 6 domaines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60020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73152" cy="2148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Calibri"/>
              </a:rPr>
              <a:t>Référentiel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3428999" cy="1600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clients (SIRET/ICE/RC/Patente)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client_addresses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agencies + agency_user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sites (GPS, travel_fee)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users + access_groups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399" y="160020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399" y="1600200"/>
            <a:ext cx="73152" cy="2148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73736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Calibri"/>
              </a:rPr>
              <a:t>Géotechnique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103120"/>
            <a:ext cx="3428999" cy="1600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missions (G1–G5, maître d'ouvrage)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boreholes (lat/long, ground_level)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lithology_layers (profondeur, RQD)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8" y="160020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8" y="1600200"/>
            <a:ext cx="73152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8" y="173736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Calibri"/>
              </a:rPr>
              <a:t>Catalogue essais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8" y="2103120"/>
            <a:ext cx="3428999" cy="1600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test_types (norme, seuils)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test_type_params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commercial_offerings (produit/service/stock)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8620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86200"/>
            <a:ext cx="73152" cy="2148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2336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Flux essai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89120"/>
            <a:ext cx="3428999" cy="1600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orders / order_items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samples (lien forage + profondeur)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test_results (paramètre, valeur)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reports + form_data + signature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399" y="388620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399" y="3886200"/>
            <a:ext cx="73152" cy="2148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1999" y="402336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Calibri"/>
              </a:rPr>
              <a:t>Commercial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4389120"/>
            <a:ext cx="3428999" cy="1600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97316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quotes / quote_lines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97316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invoices / invoice_lines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97316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invoice_orders (pivot)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97316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document_pdf_templates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8" y="388620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598" y="3886200"/>
            <a:ext cx="73152" cy="2148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8" y="402336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Transverse &amp; 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8" y="4389120"/>
            <a:ext cx="3428999" cy="1600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attachments (polymorphe)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activity_logs (audit trail)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mail_templates / mail_logs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extrafield_* + module_settings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05 · ENTITY-RELATIONSHIP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Schéma relationnel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55448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Calibri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ICE/RC/Patente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55448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6459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Calibri"/>
              </a:rPr>
              <a:t>agency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9659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agences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1943100.0"/>
            <a:ext cx="182880" cy="0.0"/>
          </a:xfrm>
          <a:prstGeom prst="line">
            <a:avLst/>
          </a:prstGeom>
          <a:ln w="15875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51960" y="155448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6459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Calibri"/>
              </a:rPr>
              <a:t>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9659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GPS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1943100.0"/>
            <a:ext cx="182880" cy="0.0"/>
          </a:xfrm>
          <a:prstGeom prst="line">
            <a:avLst/>
          </a:prstGeom>
          <a:ln w="15875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26480" y="155448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6459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A5E9"/>
                </a:solidFill>
                <a:latin typeface="Calibri"/>
              </a:rPr>
              <a:t>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9659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G1..G5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1943100.0"/>
            <a:ext cx="182880" cy="0.0"/>
          </a:xfrm>
          <a:prstGeom prst="line">
            <a:avLst/>
          </a:prstGeom>
          <a:ln w="15875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01000" y="155448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6459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A5E9"/>
                </a:solidFill>
                <a:latin typeface="Calibri"/>
              </a:rPr>
              <a:t>borehole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9659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lat/lng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18120" y="1943100.0"/>
            <a:ext cx="182880" cy="0.0"/>
          </a:xfrm>
          <a:prstGeom prst="line">
            <a:avLst/>
          </a:prstGeom>
          <a:ln w="15875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75520" y="155448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6459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A5E9"/>
                </a:solidFill>
                <a:latin typeface="Calibri"/>
              </a:rPr>
              <a:t>lithology
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9659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RQD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92640" y="1943100.0"/>
            <a:ext cx="182880" cy="0.0"/>
          </a:xfrm>
          <a:prstGeom prst="line">
            <a:avLst/>
          </a:prstGeom>
          <a:ln w="15875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02920" y="283464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9260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2C55E"/>
                </a:solidFill>
                <a:latin typeface="Calibri"/>
              </a:rPr>
              <a:t>order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246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reference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77440" y="283464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29260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2C55E"/>
                </a:solidFill>
                <a:latin typeface="Calibri"/>
              </a:rPr>
              <a:t>order_item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3246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qty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94560" y="3223260.0"/>
            <a:ext cx="182880" cy="0.0"/>
          </a:xfrm>
          <a:prstGeom prst="line">
            <a:avLst/>
          </a:prstGeom>
          <a:ln w="15875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251960" y="283464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29260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2C55E"/>
                </a:solidFill>
                <a:latin typeface="Calibri"/>
              </a:rPr>
              <a:t>sample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3246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depth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069080" y="3223260.0"/>
            <a:ext cx="182880" cy="0.0"/>
          </a:xfrm>
          <a:prstGeom prst="line">
            <a:avLst/>
          </a:prstGeom>
          <a:ln w="15875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126480" y="283464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29260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Calibri"/>
              </a:rPr>
              <a:t>test_result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246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valeur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43600" y="3223260.0"/>
            <a:ext cx="182880" cy="0.0"/>
          </a:xfrm>
          <a:prstGeom prst="line">
            <a:avLst/>
          </a:prstGeom>
          <a:ln w="158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001000" y="283464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29260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Calibri"/>
              </a:rPr>
              <a:t>report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3246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PDF + signature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18120" y="3223260.0"/>
            <a:ext cx="182880" cy="0.0"/>
          </a:xfrm>
          <a:prstGeom prst="line">
            <a:avLst/>
          </a:prstGeom>
          <a:ln w="158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097780.0" y="2331720"/>
            <a:ext cx="3749040.0" cy="502920"/>
          </a:xfrm>
          <a:prstGeom prst="line">
            <a:avLst/>
          </a:prstGeom>
          <a:ln w="15875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02920" y="411480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2062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97316"/>
                </a:solidFill>
                <a:latin typeface="Calibri"/>
              </a:rPr>
              <a:t>quote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5262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devis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411480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77440" y="42062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97316"/>
                </a:solidFill>
                <a:latin typeface="Calibri"/>
              </a:rPr>
              <a:t>invoice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45262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facture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194560" y="4503420.0"/>
            <a:ext cx="182880" cy="0.0"/>
          </a:xfrm>
          <a:prstGeom prst="line">
            <a:avLst/>
          </a:prstGeom>
          <a:ln w="15875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251960" y="411480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42062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97316"/>
                </a:solidFill>
                <a:latin typeface="Calibri"/>
              </a:rPr>
              <a:t>invoice_orders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51960" y="45262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pivot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069080" y="4503420.0"/>
            <a:ext cx="182880" cy="0.0"/>
          </a:xfrm>
          <a:prstGeom prst="line">
            <a:avLst/>
          </a:prstGeom>
          <a:ln w="15875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126480" y="411480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42062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97316"/>
                </a:solidFill>
                <a:latin typeface="Calibri"/>
              </a:rPr>
              <a:t>invoice_line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45262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ligne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943600" y="4503420.0"/>
            <a:ext cx="182880" cy="0.0"/>
          </a:xfrm>
          <a:prstGeom prst="line">
            <a:avLst/>
          </a:prstGeom>
          <a:ln w="15875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8001000" y="411480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162238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01000" y="42062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Calibri"/>
              </a:rPr>
              <a:t>document_pdf_
template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01000" y="45262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template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818120" y="4503420.0"/>
            <a:ext cx="182880" cy="0.0"/>
          </a:xfrm>
          <a:prstGeom prst="line">
            <a:avLst/>
          </a:prstGeom>
          <a:ln w="15875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348740.0" y="3611880"/>
            <a:ext cx="3749040.0" cy="502920"/>
          </a:xfrm>
          <a:prstGeom prst="line">
            <a:avLst/>
          </a:prstGeom>
          <a:ln w="15875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502920" y="5468112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4088" y="5394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7A3BF"/>
                </a:solidFill>
                <a:latin typeface="Calibri"/>
              </a:rPr>
              <a:t>Référentiel</a:t>
            </a:r>
          </a:p>
        </p:txBody>
      </p:sp>
      <p:sp>
        <p:nvSpPr>
          <p:cNvPr id="72" name="Oval 71"/>
          <p:cNvSpPr/>
          <p:nvPr/>
        </p:nvSpPr>
        <p:spPr>
          <a:xfrm>
            <a:off x="2286000" y="5468112"/>
            <a:ext cx="137160" cy="1371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87168" y="5394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7A3BF"/>
                </a:solidFill>
                <a:latin typeface="Calibri"/>
              </a:rPr>
              <a:t>Géotech</a:t>
            </a:r>
          </a:p>
        </p:txBody>
      </p:sp>
      <p:sp>
        <p:nvSpPr>
          <p:cNvPr id="74" name="Oval 73"/>
          <p:cNvSpPr/>
          <p:nvPr/>
        </p:nvSpPr>
        <p:spPr>
          <a:xfrm>
            <a:off x="4069080" y="5468112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70248" y="5394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7A3BF"/>
                </a:solidFill>
                <a:latin typeface="Calibri"/>
              </a:rPr>
              <a:t>Flux essai</a:t>
            </a:r>
          </a:p>
        </p:txBody>
      </p:sp>
      <p:sp>
        <p:nvSpPr>
          <p:cNvPr id="76" name="Oval 75"/>
          <p:cNvSpPr/>
          <p:nvPr/>
        </p:nvSpPr>
        <p:spPr>
          <a:xfrm>
            <a:off x="5852160" y="5468112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53328" y="5394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7A3BF"/>
                </a:solidFill>
                <a:latin typeface="Calibri"/>
              </a:rPr>
              <a:t>Résultat/PDF</a:t>
            </a:r>
          </a:p>
        </p:txBody>
      </p:sp>
      <p:sp>
        <p:nvSpPr>
          <p:cNvPr id="78" name="Oval 77"/>
          <p:cNvSpPr/>
          <p:nvPr/>
        </p:nvSpPr>
        <p:spPr>
          <a:xfrm>
            <a:off x="7635240" y="5468112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36408" y="5394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7A3BF"/>
                </a:solidFill>
                <a:latin typeface="Calibri"/>
              </a:rPr>
              <a:t>Commercial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5806440"/>
            <a:ext cx="11274552" cy="50292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5800" y="58795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alibri"/>
              </a:rPr>
              <a:t>Maroc : champs spécifiques sur clients — ICE, RC, Patente, IF, CNSS, capital_social. Seeders démo : Atlas BTP Casablanca (354 000 DH TTC).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06 · PROCESSUS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Workflow métier bout-en-bout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EDF7"/>
                </a:solidFill>
                <a:latin typeface="Calibri"/>
              </a:rPr>
              <a:t>Devis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Client + site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463040" y="1673352"/>
            <a:ext cx="137160" cy="128016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56232" y="1554480"/>
            <a:ext cx="365760" cy="3657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6232" y="15910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0116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EDF7"/>
                </a:solidFill>
                <a:latin typeface="Calibri"/>
              </a:rPr>
              <a:t>Commande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Mission + forages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42032" y="1673352"/>
            <a:ext cx="137160" cy="128016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5224" y="1554480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15910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5184" y="20116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EDF7"/>
                </a:solidFill>
                <a:latin typeface="Calibri"/>
              </a:rPr>
              <a:t>Terrain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5184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Mesures + GPS + photos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621024" y="1673352"/>
            <a:ext cx="137160" cy="128016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14216" y="1554480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15910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20116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EDF7"/>
                </a:solidFill>
                <a:latin typeface="Calibri"/>
              </a:rPr>
              <a:t>Échantillons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Lien forage + profondeur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700016" y="1673352"/>
            <a:ext cx="137160" cy="128016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93208" y="15544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15910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20116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EDF7"/>
                </a:solidFill>
                <a:latin typeface="Calibri"/>
              </a:rPr>
              <a:t>Essais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Saisie paramètres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779008" y="1673352"/>
            <a:ext cx="137160" cy="128016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72200" y="15544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15910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20116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EDF7"/>
                </a:solidFill>
                <a:latin typeface="Calibri"/>
              </a:rPr>
              <a:t>Calculs BTP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fck, MF, SE, CBR…</a:t>
            </a:r>
          </a:p>
        </p:txBody>
      </p:sp>
      <p:sp>
        <p:nvSpPr>
          <p:cNvPr id="36" name="Oval 35"/>
          <p:cNvSpPr/>
          <p:nvPr/>
        </p:nvSpPr>
        <p:spPr>
          <a:xfrm>
            <a:off x="1371600" y="347472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35112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39319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EDF7"/>
                </a:solidFill>
                <a:latin typeface="Calibri"/>
              </a:rPr>
              <a:t>Rapport PDF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2519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Form_data + template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057400" y="3593592"/>
            <a:ext cx="137160" cy="128016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50592" y="347472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50592" y="35112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30552" y="39319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EDF7"/>
                </a:solidFill>
                <a:latin typeface="Calibri"/>
              </a:rPr>
              <a:t>Revue &amp; signature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30552" y="42519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review_status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136392" y="3593592"/>
            <a:ext cx="137160" cy="128016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29584" y="347472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5112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9544" y="39319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EDF7"/>
                </a:solidFill>
                <a:latin typeface="Calibri"/>
              </a:rPr>
              <a:t>Envoi client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9544" y="42519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Mail + PJ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215384" y="3593592"/>
            <a:ext cx="137160" cy="128016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608576" y="347472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08576" y="35112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88536" y="39319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EDF7"/>
                </a:solidFill>
                <a:latin typeface="Calibri"/>
              </a:rPr>
              <a:t>Facturation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88536" y="42519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From-orders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5294376" y="3593592"/>
            <a:ext cx="137160" cy="128016"/>
          </a:xfrm>
          <a:prstGeom prst="right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687568" y="347472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87568" y="35112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67528" y="39319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EDF7"/>
                </a:solidFill>
                <a:latin typeface="Calibri"/>
              </a:rPr>
              <a:t>Paiement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67528" y="42519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A3BF"/>
                </a:solidFill>
                <a:latin typeface="Calibri"/>
              </a:rPr>
              <a:t>status = paid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6720840" y="2788920"/>
            <a:ext cx="164592" cy="502920"/>
          </a:xfrm>
          <a:prstGeom prst="downArrow">
            <a:avLst/>
          </a:prstGeom>
          <a:solidFill>
            <a:srgbClr val="97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57200" y="5120640"/>
            <a:ext cx="5486400" cy="118872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POINTS CLÉS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5321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alibri"/>
              </a:rPr>
              <a:t>• Mobile idempotent (client_submission_id)
• Rapport lié order_id + templates Blade
• invoice ↔ orders via pivot invoice_orders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63640" y="5120640"/>
            <a:ext cx="5486400" cy="118872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CALCULS BTP INTÉGRÉS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55321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alibri"/>
              </a:rPr>
              <a:t>fck (NF EN 12390-3) · MF (NF EN 933-1) · SE (NF EN 933-8)
CBR (NF EN 13286-47) · IP (NF EN ISO 17892-12)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07 ·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Roadmap — MVP (livré)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921240" y="54864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640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Calibri"/>
              </a:rPr>
              <a:t>✓ EN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73152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Référentiel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03120"/>
            <a:ext cx="5120640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Clients (FR + MA : ICE, RC, Patente, IF, CNSS)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Agences et adresses billing/delivery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Sites (GPS, frais de déplacement)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Utilisateurs + rôles + access_groups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54480"/>
            <a:ext cx="73152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Essais &amp; résultats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5120640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Catalogue essais + normes NF/EN/ASTM/NM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Commandes → échantillons → résultats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Calculs BTP (fck, MF, SE, CBR, IP)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Rapports PDF avec signature + revue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73152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Géotechnique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5120640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Missions G1 à G5 + maître d'ouvrage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Forages (lat/long, cote sol)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Couches lithologiques (profondeur, RQD)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233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023360"/>
            <a:ext cx="73152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160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Commercial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72000"/>
            <a:ext cx="5120640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Devis &amp; factures multi-lignes, remises, TVA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Templates PDF paramétrables (layout_config)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Facturation FR + MA (TVA 20 %, MAD)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●  </a:t>
            </a:r>
            <a:r>
              <a:rPr sz="1100">
                <a:solidFill>
                  <a:srgbClr val="E6EDF7"/>
                </a:solidFill>
                <a:latin typeface="Calibri"/>
              </a:rPr>
              <a:t>Statuts : draft → sent → signed → paid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08 · PHASE 2 · EN 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Roadmap — V1 Industrialisation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921240" y="54864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640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Calibri"/>
              </a:rPr>
              <a:t>⚡ EN COURS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274552" cy="41148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Calibri"/>
              </a:rPr>
              <a:t>DURÉE 10 À 16 SEMAINES — RECETTE CIBLE FIN JUILLET 2026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286000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1945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7"/>
                </a:solidFill>
                <a:latin typeface="Calibri"/>
              </a:rPr>
              <a:t>Planning techniciens &amp; équipements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14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Calendrier drag-and-drop, affectation essais, conflits détectés.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971800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8803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7"/>
                </a:solidFill>
                <a:latin typeface="Calibri"/>
              </a:rPr>
              <a:t>Étalonnages &amp; certificats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00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Alertes échéance, certificats attachés, lien équipement ↔ résultat.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657600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5661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7"/>
                </a:solidFill>
                <a:latin typeface="Calibri"/>
              </a:rPr>
              <a:t>Non-conformités / CAPA (8D)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86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Workflow standard, liens échantillon/commande/équipement.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343400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2519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7"/>
                </a:solidFill>
                <a:latin typeface="Calibri"/>
              </a:rPr>
              <a:t>Audit trail renforcé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Diff valeurs avant/après sur entités sensibles (factures, rapports).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029200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9377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7"/>
                </a:solidFill>
                <a:latin typeface="Calibri"/>
              </a:rPr>
              <a:t>Bilingue FR / 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257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i18next + PDF RTL (dompdf + fonts arabes) — clients publics Maroc.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806440"/>
            <a:ext cx="11274552" cy="50292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8978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Impact : accréditation SNIMA / ISO 17025 rendue possible. +20 % productivité labo.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09 · PHASE 3 · PLANIFIÉ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Roadmap — V2 Différenciation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921240" y="54864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640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1220"/>
                </a:solidFill>
                <a:latin typeface="Calibri"/>
              </a:rPr>
              <a:t>◉ PLANIFIÉ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Connecteurs instruments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34289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alibri"/>
              </a:rPr>
              <a:t>Presse, balance, capteurs. CSV, RS232, Bluetooth, API.
Zéro double-saisie opérateur.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399" y="160020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399" y="160020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173736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  <a:latin typeface="Calibri"/>
              </a:rPr>
              <a:t>Portail client + paiement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148840"/>
            <a:ext cx="34289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alibri"/>
              </a:rPr>
              <a:t>Espace self-service + paiement en ligne (Stripe FR, CMI Maroc).
Réduction du DSO.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8" y="160020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1600200"/>
            <a:ext cx="73152" cy="1828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198" y="173736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Calibri"/>
              </a:rPr>
              <a:t>BI embarqué (Metabase)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8" y="2148840"/>
            <a:ext cx="34289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alibri"/>
              </a:rPr>
              <a:t>Vues matérialisées : CA, essais, délais, qualité, équipements.
5+ dashboards exécutifs.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73152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0332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Multi-labos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114800"/>
            <a:ext cx="34289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alibri"/>
              </a:rPr>
              <a:t>tenant_id ou BDD par tenant. Global scope automatique.
Expansion SaaS.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399" y="356616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399" y="3566160"/>
            <a:ext cx="73152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1999" y="370332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Calibri"/>
              </a:rPr>
              <a:t>IA anomalies résultats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4114800"/>
            <a:ext cx="34289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alibri"/>
              </a:rPr>
              <a:t>Isolation Forest sur historique. Alerte + validation manager.
Qualité proactive.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598" y="356616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598" y="3566160"/>
            <a:ext cx="73152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198" y="370332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alibri"/>
              </a:rPr>
              <a:t>API publique OpenAPI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8" y="4114800"/>
            <a:ext cx="34289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alibri"/>
              </a:rPr>
              <a:t>Swagger, webhooks, intégrations n8n / Make.
Écosystème ouvert.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10 · PRIORITÉS IMMÉDIATES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Quick wins · 0-3 mois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54480"/>
            <a:ext cx="11274552" cy="45720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7A3B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7A3BF"/>
                </a:solidFill>
                <a:latin typeface="Calibri"/>
              </a:rPr>
              <a:t>AMÉLIORATION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7A3BF"/>
                </a:solidFill>
                <a:latin typeface="Calibri"/>
              </a:rPr>
              <a:t>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6459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7A3BF"/>
                </a:solidFill>
                <a:latin typeface="Calibri"/>
              </a:rPr>
              <a:t>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16459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7A3BF"/>
                </a:solidFill>
                <a:latin typeface="Calibri"/>
              </a:rPr>
              <a:t>PRIO.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Index composite (client_id, status)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57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×3-5 sur dashboards CRM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2093976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0" y="21214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EDF7"/>
                </a:solidFill>
                <a:latin typeface="Calibri"/>
              </a:rPr>
              <a:t>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81360" y="2093976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212140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Haute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2468880"/>
            <a:ext cx="11274552" cy="0"/>
          </a:xfrm>
          <a:prstGeom prst="line">
            <a:avLst/>
          </a:prstGeom>
          <a:ln w="6350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532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Endpoint /invoices/unpaid dédié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53288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Simplifie app mobile impayés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87000" y="2569464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596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EDF7"/>
                </a:solidFill>
                <a:latin typeface="Calibri"/>
              </a:rPr>
              <a:t>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81360" y="2569464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259689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Haute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2944368"/>
            <a:ext cx="11274552" cy="0"/>
          </a:xfrm>
          <a:prstGeom prst="line">
            <a:avLst/>
          </a:prstGeom>
          <a:ln w="6350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00837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URLs signées PDF 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00837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Self-service portail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304495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307238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EDF7"/>
                </a:solidFill>
                <a:latin typeface="Calibri"/>
              </a:rPr>
              <a:t>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881360" y="3044952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81360" y="30723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Haute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3419856"/>
            <a:ext cx="11274552" cy="0"/>
          </a:xfrm>
          <a:prstGeom prst="line">
            <a:avLst/>
          </a:prstGeom>
          <a:ln w="6350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34838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34838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Relances automatiques factures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48386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−30 % délai paiement moyen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87000" y="3520440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7000" y="35478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EDF7"/>
                </a:solidFill>
                <a:latin typeface="Calibri"/>
              </a:rPr>
              <a:t>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881360" y="3520440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1360" y="35478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Moyenne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7200" y="3895344"/>
            <a:ext cx="11274552" cy="0"/>
          </a:xfrm>
          <a:prstGeom prst="line">
            <a:avLst/>
          </a:prstGeom>
          <a:ln w="6350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0080" y="3959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39593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Exports comptables Sage / CEGID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9593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Intégration ERP client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87000" y="3995928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87000" y="402336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EDF7"/>
                </a:solidFill>
                <a:latin typeface="Calibri"/>
              </a:rPr>
              <a:t>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81360" y="3995928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81360" y="40233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Moyenne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57200" y="4370832"/>
            <a:ext cx="11274552" cy="0"/>
          </a:xfrm>
          <a:prstGeom prst="line">
            <a:avLst/>
          </a:prstGeom>
          <a:ln w="6350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" y="4434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Versioning rapports signés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4434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Conformité ISO 17025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87000" y="4471416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7000" y="44988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EDF7"/>
                </a:solidFill>
                <a:latin typeface="Calibri"/>
              </a:rPr>
              <a:t>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881360" y="4471416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81360" y="44988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Moyenne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57200" y="4846320"/>
            <a:ext cx="11274552" cy="0"/>
          </a:xfrm>
          <a:prstGeom prst="line">
            <a:avLst/>
          </a:prstGeom>
          <a:ln w="6350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4910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Tests auto (min 60 % coverage)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49103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Fiabilité déploiements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287000" y="4946904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87000" y="497433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EDF7"/>
                </a:solidFill>
                <a:latin typeface="Calibri"/>
              </a:rPr>
              <a:t>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881360" y="4946904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81360" y="497433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Moyenne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57200" y="5321808"/>
            <a:ext cx="11274552" cy="0"/>
          </a:xfrm>
          <a:prstGeom prst="line">
            <a:avLst/>
          </a:prstGeom>
          <a:ln w="6350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40080" y="53858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" y="538581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Archivage activity_logs &gt; 90j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0" y="538581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Perf + rétention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287000" y="5422392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87000" y="544982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EDF7"/>
                </a:solidFill>
                <a:latin typeface="Calibri"/>
              </a:rPr>
              <a:t>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881360" y="5422392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81360" y="544982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Basse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57200" y="5797296"/>
            <a:ext cx="11274552" cy="0"/>
          </a:xfrm>
          <a:prstGeom prst="line">
            <a:avLst/>
          </a:prstGeom>
          <a:ln w="6350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11 · ANALYSE RISQUES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Risques &amp; mitigation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54480"/>
            <a:ext cx="11274552" cy="45720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7A3BF"/>
                </a:solidFill>
                <a:latin typeface="Calibri"/>
              </a:rPr>
              <a:t>RISQUE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645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7A3BF"/>
                </a:solidFill>
                <a:latin typeface="Calibri"/>
              </a:rPr>
              <a:t>PROBA.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7A3BF"/>
                </a:solidFill>
                <a:latin typeface="Calibri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6459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7A3BF"/>
                </a:solidFill>
                <a:latin typeface="Calibri"/>
              </a:rPr>
              <a:t>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Non-conformité SNIMA / ISO 17025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13969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1671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Moyenne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3969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671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10312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V1 audit trail renforcé + étalonnages (lot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803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Saisie terrain sans réseau (chantiers Maroc)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91693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94436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Haute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91693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4436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Moyen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88036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Mode offline-first mobile + sync delta (lot 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576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Perte données / mauvaise restauration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369417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3721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Basse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69417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216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65760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Sauvegardes quotidiennes + restore drill mensuel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4348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Performance dashboards (&gt;50k résultats)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447141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44988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Moyenne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47141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4988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Moyen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43484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Index composite + vues matérialisées BI (V2)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2120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7"/>
                </a:solidFill>
                <a:latin typeface="Calibri"/>
              </a:rPr>
              <a:t>Sécurité tokens mobile (vol device)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40" y="524865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5276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Basse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248656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276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Fort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521208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7A3BF"/>
                </a:solidFill>
                <a:latin typeface="Calibri"/>
              </a:rPr>
              <a:t>TTL courts + révocation device_name + biométrie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12 · PLAN D'ACTION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7"/>
                </a:solidFill>
                <a:latin typeface="Calibri"/>
              </a:rPr>
              <a:t>Prochaines étapes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92840" cy="0"/>
          </a:xfrm>
          <a:prstGeom prst="line">
            <a:avLst/>
          </a:prstGeom>
          <a:ln w="9525">
            <a:solidFill>
              <a:srgbClr val="2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54480"/>
            <a:ext cx="3749039" cy="301752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749039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Sprint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7A3BF"/>
                </a:solidFill>
                <a:latin typeface="Calibri"/>
              </a:rPr>
              <a:t>Semaines 17-18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383280" cy="1920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Index composite perf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Endpoint impayés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PDF client URLs signées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7" y="1554480"/>
            <a:ext cx="3749039" cy="301752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7" y="1554480"/>
            <a:ext cx="3749039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7" y="1737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A5E9"/>
                </a:solidFill>
                <a:latin typeface="Calibri"/>
              </a:rPr>
              <a:t>Sprint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7" y="21488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7A3BF"/>
                </a:solidFill>
                <a:latin typeface="Calibri"/>
              </a:rPr>
              <a:t>Semaines 19-20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7" y="2606040"/>
            <a:ext cx="3383280" cy="1920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Relances auto factures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Exports Sage / CEGID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4" y="1554480"/>
            <a:ext cx="3749039" cy="301752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4" y="1554480"/>
            <a:ext cx="3749039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4" y="1737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alibri"/>
              </a:rPr>
              <a:t>Sprint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4" y="21488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7A3BF"/>
                </a:solidFill>
                <a:latin typeface="Calibri"/>
              </a:rPr>
              <a:t>Semaines 21-22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4" y="2606040"/>
            <a:ext cx="3383280" cy="1920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Versioning rapports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Tests automatisés 60 %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●  </a:t>
            </a:r>
            <a:r>
              <a:rPr sz="1200">
                <a:solidFill>
                  <a:srgbClr val="E6EDF7"/>
                </a:solidFill>
                <a:latin typeface="Calibri"/>
              </a:rPr>
              <a:t>ISO 17025 v0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1274552" cy="146304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9525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LIVRABLES ASSOCIÉS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Calibri"/>
              </a:rPr>
              <a:t>• Présentation HTML interactive (mermaid + gantt)
• Roadmap markdown détaillée pour Cursor (22 tâches)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3492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Calibri"/>
              </a:rPr>
              <a:t>Support · support@anexys.fr
Site · apps-dev.fr
WhatsApp · +33 6 89 51 59 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7A3BF"/>
                </a:solidFill>
                <a:latin typeface="Calibri"/>
              </a:rPr>
              <a:t>s2gBot — Plateforme LIMS BTP  ·  BDC / anexys  ·  20 avril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7A3BF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